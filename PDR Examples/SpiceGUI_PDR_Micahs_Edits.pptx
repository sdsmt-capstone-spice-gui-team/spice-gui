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D5E7-F50E-8A97-2208-2946613F6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BC704-5A7D-3A6E-2236-911937F7F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72256-54D3-8789-FDD7-6D7EB2302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2B6D8-1F4D-4DC3-9E12-C0AD60E5AA1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7F935-7058-AA75-3B00-107482490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6CFD4-24EA-2593-D4F3-28AF464A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BE171-1F41-4137-8040-77D8F7AF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1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B829-48E7-D2F3-271C-68105B85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7BD79-9F90-A1CD-998C-627CAA5C0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78FD9-0C16-70A8-9947-7A523194E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2B6D8-1F4D-4DC3-9E12-C0AD60E5AA1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A8A43-7195-D160-DEE6-AB105CC55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54351-A179-73FB-095A-793A8CD2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BE171-1F41-4137-8040-77D8F7AF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87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A12A1-4E80-7EAF-1CED-4A88AB1F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E0487-1DFB-912E-A656-4EE481053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1FF7E-0FC1-31FF-16F5-A93E88B4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2B6D8-1F4D-4DC3-9E12-C0AD60E5AA1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E063A-2015-E8F2-1DDC-104B1ED39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55C73-641A-74C1-6CAF-42585C7F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BE171-1F41-4137-8040-77D8F7AF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19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89B8-C770-943C-595B-4E1D4E975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811DF-9A21-E804-2BDC-3D91C0028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A6169-E479-C0C7-E8C6-F68FC0072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CE3FA-B431-0159-EF50-E103251F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2B6D8-1F4D-4DC3-9E12-C0AD60E5AA1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C48D1-992B-7BA8-6808-25C2F857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D859C-478F-38F6-ED99-935E5DA0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BE171-1F41-4137-8040-77D8F7AF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6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21FBB-FD50-FE5E-900A-C9042470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BB0EF-6AF1-2354-3261-FB3F439E4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1F3DC-9780-3107-B253-11942EAE3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3320DF-2DAC-D9F8-A987-54530A586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F384F5-F017-9B71-4F50-ABAE4B6F3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5C498-CB3F-FA44-A3BC-4BCBB6AE3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2B6D8-1F4D-4DC3-9E12-C0AD60E5AA1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F015A-4451-E11C-F5E4-8B359A712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396DE-6350-9692-6622-0AB3B915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BE171-1F41-4137-8040-77D8F7AF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44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D4A1-90C0-F867-0BF0-719BF7FBE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71B29-47B1-F151-E4DF-83EACB39B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2B6D8-1F4D-4DC3-9E12-C0AD60E5AA1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405D3-1797-CE60-AC6C-871BD095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60B2E-B1C5-1CCC-6F1B-32505DB5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BE171-1F41-4137-8040-77D8F7AF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5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53D7B-3B5A-DBD8-6750-F0A3B373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2B6D8-1F4D-4DC3-9E12-C0AD60E5AA1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A5B7F1-DAB0-A480-FC75-EA2A990CE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D06A1-F370-3541-E9A1-2A80DC10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BE171-1F41-4137-8040-77D8F7AF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9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FC62C-E101-B68D-8DB9-7560EBD2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DE6D1-4CC2-CEF5-D14F-03E461CD9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B0774-CF40-0D31-4B6B-5B7E5A7FE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89A08-ED70-F304-A367-95C6415A9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2B6D8-1F4D-4DC3-9E12-C0AD60E5AA1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F6C4B-A754-FFFC-296D-197FD046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FAFDE-F21C-3A0E-22B2-91EF2860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BE171-1F41-4137-8040-77D8F7AF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3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8653-C762-ED3A-4BC1-2040E7AB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947724-F293-2AA5-DE77-C2313B684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DDDD1-E155-5841-86BB-CC17CA4B8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1743E-04E5-ADE9-C71E-6F9854412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2B6D8-1F4D-4DC3-9E12-C0AD60E5AA1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796EF-2FE6-467A-F735-DB9DC27F2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8C06B-52AA-FF54-DB2B-307BDE22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BE171-1F41-4137-8040-77D8F7AF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12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5878-2E60-05DB-BADF-E3C827358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02902-A1BB-87A6-EFD4-811D802CC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91ECD-80EC-3E48-4528-2228052A9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2B6D8-1F4D-4DC3-9E12-C0AD60E5AA1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6EB8D-08FF-739F-7571-982DD3ADE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EFBCF-61B8-0CB4-187D-83ECEE9F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BE171-1F41-4137-8040-77D8F7AF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1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23F07-E1D9-25C4-81FF-893CA6CFF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5FFF0-EA10-A1FE-BE49-B139AF02A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BB205-2F26-4C84-677F-181D716E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2B6D8-1F4D-4DC3-9E12-C0AD60E5AA1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4817D-D215-34CA-AA79-098E3DACC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8C32D-5E25-369C-DD43-F5928241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BE171-1F41-4137-8040-77D8F7AF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0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393EC3-AD96-02D8-F919-70BC3525B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BF8A5-09FC-89F4-FD11-9900F0BF3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C2023-B558-D310-7DAA-D339B57E1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2B6D8-1F4D-4DC3-9E12-C0AD60E5AA1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6B5A1-4841-10FB-A496-44A4B203B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D5A93-149F-C7EF-0287-5A41C54E6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BE171-1F41-4137-8040-77D8F7AF9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3E8E4-52A0-C4BE-DFC5-BCE40348F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0"/>
            <a:ext cx="9144000" cy="2387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SDM Spice (</a:t>
            </a:r>
            <a:r>
              <a:rPr lang="en-US" dirty="0" err="1"/>
              <a:t>Jupyter</a:t>
            </a:r>
            <a:r>
              <a:rPr lang="en-US" dirty="0"/>
              <a:t> Spice)</a:t>
            </a:r>
            <a:r>
              <a:rPr dirty="0"/>
              <a:t>- Preliminary Design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B863B-49A5-4952-76A6-7237508BAEB7}"/>
              </a:ext>
            </a:extLst>
          </p:cNvPr>
          <p:cNvSpPr txBox="1"/>
          <p:nvPr/>
        </p:nvSpPr>
        <p:spPr>
          <a:xfrm>
            <a:off x="2387600" y="4800600"/>
            <a:ext cx="7255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Jeremy Friedrichsen, Jonathan Gibbs, Micah Greenfield, Marc </a:t>
            </a:r>
            <a:r>
              <a:rPr lang="en-US" dirty="0" err="1"/>
              <a:t>Tchona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155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86BF3-99B3-C227-3BA7-E4D71269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4DCF1-EA17-3408-9B82-738BC6D9B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182880" algn="l">
              <a:buChar char="•"/>
            </a:pPr>
            <a:r>
              <a:rPr lang="en-US" dirty="0"/>
              <a:t>Working with SDM EECS department</a:t>
            </a:r>
            <a:endParaRPr dirty="0"/>
          </a:p>
          <a:p>
            <a:pPr marL="365760" indent="-182880" algn="l">
              <a:buChar char="•"/>
            </a:pPr>
            <a:r>
              <a:rPr lang="en-US" dirty="0"/>
              <a:t>Open-source circuit design and simulation application</a:t>
            </a:r>
          </a:p>
          <a:p>
            <a:pPr marL="365760" indent="-182880" algn="l">
              <a:buChar char="•"/>
            </a:pPr>
            <a:r>
              <a:rPr lang="en-US" dirty="0"/>
              <a:t>Application will act as an interface for NG-Spice simulation engine</a:t>
            </a:r>
            <a:endParaRPr dirty="0"/>
          </a:p>
          <a:p>
            <a:pPr marL="365760" indent="-182880" algn="l">
              <a:buChar char="•"/>
            </a:pPr>
            <a:r>
              <a:rPr lang="en-US" dirty="0"/>
              <a:t>Intended as an alternative to P-Spice, LT-Spice, Multisim, etc.</a:t>
            </a:r>
            <a:endParaRPr dirty="0"/>
          </a:p>
          <a:p>
            <a:pPr marL="365760" indent="-182880" algn="l">
              <a:buChar char="•"/>
            </a:pPr>
            <a:r>
              <a:rPr lang="en-US" dirty="0"/>
              <a:t>Focus on new student usability</a:t>
            </a:r>
          </a:p>
          <a:p>
            <a:pPr marL="365760" indent="-182880" algn="l">
              <a:buChar char="•"/>
            </a:pPr>
            <a:r>
              <a:rPr lang="en-US" dirty="0"/>
              <a:t>Suitable for EE120, EE220, EE221, and EE320 with room to expand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4291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21CC-3CF8-48C3-AF16-806CB5F9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Customer Discovery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01AC6-DA6B-FE13-38C4-0E08795D8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182880" algn="l">
              <a:spcBef>
                <a:spcPts val="0"/>
              </a:spcBef>
              <a:buSzPts val="1800"/>
              <a:buChar char="•"/>
            </a:pPr>
            <a:r>
              <a:rPr dirty="0"/>
              <a:t>Need for accessible, open-source circuit simulation tool for education</a:t>
            </a:r>
            <a:r>
              <a:rPr lang="en-US" dirty="0"/>
              <a:t>al use</a:t>
            </a:r>
          </a:p>
          <a:p>
            <a:pPr marL="365760" indent="-182880" algn="l">
              <a:spcBef>
                <a:spcPts val="0"/>
              </a:spcBef>
              <a:buSzPts val="1800"/>
              <a:buChar char="•"/>
            </a:pPr>
            <a:r>
              <a:rPr dirty="0"/>
              <a:t>Users require modern graphical interface similar to commercial tools</a:t>
            </a:r>
          </a:p>
          <a:p>
            <a:pPr marL="365760" indent="-182880" algn="l">
              <a:buChar char="•"/>
            </a:pPr>
            <a:r>
              <a:rPr dirty="0"/>
              <a:t>Integration with documentation systems (LaTeX via </a:t>
            </a:r>
            <a:r>
              <a:rPr dirty="0" err="1"/>
              <a:t>Circuitikz</a:t>
            </a:r>
            <a:r>
              <a:rPr dirty="0"/>
              <a:t>) is essential</a:t>
            </a:r>
          </a:p>
          <a:p>
            <a:pPr marL="365760" indent="-182880" algn="l">
              <a:buChar char="•"/>
            </a:pPr>
            <a:r>
              <a:rPr dirty="0"/>
              <a:t>Demand for extensible architecture that allows customization and plugin development</a:t>
            </a:r>
          </a:p>
        </p:txBody>
      </p:sp>
    </p:spTree>
    <p:extLst>
      <p:ext uri="{BB962C8B-B14F-4D97-AF65-F5344CB8AC3E}">
        <p14:creationId xmlns:p14="http://schemas.microsoft.com/office/powerpoint/2010/main" val="3617932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C294-1DC3-1E06-CA02-B706DDA5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Needs Assessment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8A088-82DD-26DD-CB7B-6745EC058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182880" algn="l">
              <a:spcBef>
                <a:spcPts val="0"/>
              </a:spcBef>
              <a:buSzPts val="1800"/>
              <a:buChar char="•"/>
            </a:pPr>
            <a:r>
              <a:rPr lang="en-US" dirty="0"/>
              <a:t>S</a:t>
            </a:r>
            <a:r>
              <a:rPr dirty="0"/>
              <a:t>chematic entry </a:t>
            </a:r>
            <a:r>
              <a:rPr lang="en-US" dirty="0"/>
              <a:t>window </a:t>
            </a:r>
            <a:r>
              <a:rPr dirty="0"/>
              <a:t>with component library</a:t>
            </a:r>
            <a:endParaRPr lang="en-US" dirty="0"/>
          </a:p>
          <a:p>
            <a:pPr marL="822960" lvl="1" indent="-182880">
              <a:spcBef>
                <a:spcPts val="0"/>
              </a:spcBef>
              <a:buSzPts val="1800"/>
            </a:pPr>
            <a:r>
              <a:rPr lang="en-US" dirty="0"/>
              <a:t>Library includes all components utilized in EE120, EE220, EE221, EE320</a:t>
            </a:r>
          </a:p>
          <a:p>
            <a:pPr marL="365760" indent="-182880" algn="l">
              <a:spcBef>
                <a:spcPts val="0"/>
              </a:spcBef>
              <a:buSzPts val="1800"/>
              <a:buChar char="•"/>
            </a:pPr>
            <a:r>
              <a:rPr dirty="0"/>
              <a:t>Multiple simulation </a:t>
            </a:r>
            <a:r>
              <a:rPr lang="en-US" dirty="0"/>
              <a:t>types</a:t>
            </a:r>
            <a:r>
              <a:rPr dirty="0"/>
              <a:t>: Transient, O</a:t>
            </a:r>
            <a:r>
              <a:rPr lang="en-US" dirty="0"/>
              <a:t>P</a:t>
            </a:r>
            <a:r>
              <a:rPr dirty="0"/>
              <a:t>, AC Sweep, DC Sweep</a:t>
            </a:r>
            <a:endParaRPr lang="en-US" dirty="0"/>
          </a:p>
          <a:p>
            <a:pPr marL="365760" indent="-182880" algn="l">
              <a:buChar char="•"/>
            </a:pPr>
            <a:r>
              <a:rPr lang="en-US" dirty="0"/>
              <a:t>Tabular and graphical outputs</a:t>
            </a:r>
          </a:p>
          <a:p>
            <a:pPr marL="365760" indent="-182880" algn="l">
              <a:buChar char="•"/>
            </a:pPr>
            <a:r>
              <a:rPr lang="en-US" dirty="0"/>
              <a:t>Saving/loading capabilities for schematics</a:t>
            </a:r>
            <a:endParaRPr dirty="0"/>
          </a:p>
          <a:p>
            <a:pPr marL="365760" indent="-182880" algn="l">
              <a:buChar char="•"/>
            </a:pPr>
            <a:r>
              <a:rPr dirty="0"/>
              <a:t>Export capabilities for schematics</a:t>
            </a:r>
            <a:endParaRPr lang="en-US" dirty="0"/>
          </a:p>
          <a:p>
            <a:pPr marL="365760" indent="-182880" algn="l">
              <a:buChar char="•"/>
            </a:pPr>
            <a:r>
              <a:rPr lang="en-US" dirty="0"/>
              <a:t>Export capabilities for netlist</a:t>
            </a:r>
          </a:p>
          <a:p>
            <a:pPr marL="365760" indent="-182880" algn="l">
              <a:buChar char="•"/>
            </a:pPr>
            <a:r>
              <a:rPr lang="en-US" dirty="0"/>
              <a:t>Export capabilities for output</a:t>
            </a:r>
            <a:endParaRPr dirty="0"/>
          </a:p>
        </p:txBody>
      </p:sp>
      <p:pic>
        <p:nvPicPr>
          <p:cNvPr id="2050" name="Picture 2" descr="Multiple Files Icon with Outline Style 10796909 Vector Art at Vecteezy">
            <a:extLst>
              <a:ext uri="{FF2B5EF4-FFF2-40B4-BE49-F238E27FC236}">
                <a16:creationId xmlns:a16="http://schemas.microsoft.com/office/drawing/2014/main" id="{38777EFF-0E1D-BEA5-D215-DA07854CD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2133" y="3268133"/>
            <a:ext cx="3589867" cy="3589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108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FC31D-D228-6821-1568-DBDCA2F3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Preliminary Design Description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C02B61-8187-55D7-53F0-2CF6AE83F9DE}"/>
              </a:ext>
            </a:extLst>
          </p:cNvPr>
          <p:cNvSpPr/>
          <p:nvPr/>
        </p:nvSpPr>
        <p:spPr>
          <a:xfrm>
            <a:off x="5147733" y="1701800"/>
            <a:ext cx="189653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Schematic Editor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71E426-A4A6-6641-6F29-EE2A4FAFD08C}"/>
              </a:ext>
            </a:extLst>
          </p:cNvPr>
          <p:cNvCxnSpPr>
            <a:cxnSpLocks/>
            <a:stCxn id="14" idx="3"/>
            <a:endCxn id="7" idx="1"/>
          </p:cNvCxnSpPr>
          <p:nvPr/>
        </p:nvCxnSpPr>
        <p:spPr>
          <a:xfrm>
            <a:off x="2734734" y="2159000"/>
            <a:ext cx="2412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DA39D5-39A6-097B-A445-7B65CB1E8B9B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>
            <a:off x="7044267" y="2159000"/>
            <a:ext cx="2412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2065ABB-9C74-DCBE-F27D-EE8157F1F7F3}"/>
              </a:ext>
            </a:extLst>
          </p:cNvPr>
          <p:cNvSpPr/>
          <p:nvPr/>
        </p:nvSpPr>
        <p:spPr>
          <a:xfrm>
            <a:off x="838200" y="1701800"/>
            <a:ext cx="189653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Splash Page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3980AC-C25E-E32D-F5D5-9332036B05B4}"/>
              </a:ext>
            </a:extLst>
          </p:cNvPr>
          <p:cNvSpPr/>
          <p:nvPr/>
        </p:nvSpPr>
        <p:spPr>
          <a:xfrm>
            <a:off x="9457266" y="1701800"/>
            <a:ext cx="189653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Netlist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1BA774-7160-84B3-4FE8-062B4EA9F96D}"/>
              </a:ext>
            </a:extLst>
          </p:cNvPr>
          <p:cNvSpPr txBox="1"/>
          <p:nvPr/>
        </p:nvSpPr>
        <p:spPr>
          <a:xfrm>
            <a:off x="3107267" y="1835834"/>
            <a:ext cx="1820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Schematic</a:t>
            </a:r>
          </a:p>
          <a:p>
            <a:r>
              <a:rPr lang="en-US" dirty="0"/>
              <a:t>Load Schematic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2D3800-C634-7B61-4742-DB2C251DF3F1}"/>
              </a:ext>
            </a:extLst>
          </p:cNvPr>
          <p:cNvSpPr txBox="1"/>
          <p:nvPr/>
        </p:nvSpPr>
        <p:spPr>
          <a:xfrm>
            <a:off x="7401111" y="1835834"/>
            <a:ext cx="1699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Simulation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88B17E-23BA-61EF-E3C6-C379886B8C8D}"/>
              </a:ext>
            </a:extLst>
          </p:cNvPr>
          <p:cNvSpPr/>
          <p:nvPr/>
        </p:nvSpPr>
        <p:spPr>
          <a:xfrm>
            <a:off x="9457266" y="4140200"/>
            <a:ext cx="189653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NG-Spice Calculates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A2FB0BC-129A-6BA5-4DF7-641288C1B73E}"/>
              </a:ext>
            </a:extLst>
          </p:cNvPr>
          <p:cNvCxnSpPr>
            <a:stCxn id="16" idx="2"/>
            <a:endCxn id="21" idx="0"/>
          </p:cNvCxnSpPr>
          <p:nvPr/>
        </p:nvCxnSpPr>
        <p:spPr>
          <a:xfrm>
            <a:off x="10405533" y="2616200"/>
            <a:ext cx="0" cy="152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837ABB3-A29B-C0C7-5713-7D840C5020AE}"/>
              </a:ext>
            </a:extLst>
          </p:cNvPr>
          <p:cNvSpPr txBox="1"/>
          <p:nvPr/>
        </p:nvSpPr>
        <p:spPr>
          <a:xfrm>
            <a:off x="8974669" y="3055034"/>
            <a:ext cx="1430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 Netlist to NG Spice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34F42F-BCD2-4745-7EEE-3A9ED687AF60}"/>
              </a:ext>
            </a:extLst>
          </p:cNvPr>
          <p:cNvSpPr/>
          <p:nvPr/>
        </p:nvSpPr>
        <p:spPr>
          <a:xfrm>
            <a:off x="5147733" y="4140200"/>
            <a:ext cx="189653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Display Results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0EB1D8-8675-576E-FA1D-477D112526BE}"/>
              </a:ext>
            </a:extLst>
          </p:cNvPr>
          <p:cNvCxnSpPr>
            <a:stCxn id="21" idx="1"/>
            <a:endCxn id="25" idx="3"/>
          </p:cNvCxnSpPr>
          <p:nvPr/>
        </p:nvCxnSpPr>
        <p:spPr>
          <a:xfrm flipH="1">
            <a:off x="7044267" y="4597400"/>
            <a:ext cx="2412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FFA209-14C9-7B45-42C1-093265491784}"/>
              </a:ext>
            </a:extLst>
          </p:cNvPr>
          <p:cNvSpPr txBox="1"/>
          <p:nvPr/>
        </p:nvSpPr>
        <p:spPr>
          <a:xfrm>
            <a:off x="7340600" y="4274232"/>
            <a:ext cx="1820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Receive Results from NG-Spice</a:t>
            </a:r>
          </a:p>
        </p:txBody>
      </p:sp>
    </p:spTree>
    <p:extLst>
      <p:ext uri="{BB962C8B-B14F-4D97-AF65-F5344CB8AC3E}">
        <p14:creationId xmlns:p14="http://schemas.microsoft.com/office/powerpoint/2010/main" val="2133078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156D-1992-77E7-57AF-55BFDFA1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Technical Details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8154C-A0D4-7522-C637-C93D2D67F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182880" algn="l">
              <a:spcBef>
                <a:spcPts val="0"/>
              </a:spcBef>
              <a:buSzPts val="1800"/>
              <a:buChar char="•"/>
            </a:pPr>
            <a:r>
              <a:t>Framework: Qt (GUI) and Python (backend logic)</a:t>
            </a:r>
          </a:p>
          <a:p>
            <a:pPr marL="365760" indent="-182880" algn="l">
              <a:buChar char="•"/>
            </a:pPr>
            <a:r>
              <a:t>Simulator: NGSpice (open source SPICE derivative)</a:t>
            </a:r>
          </a:p>
          <a:p>
            <a:pPr marL="365760" indent="-182880" algn="l">
              <a:buChar char="•"/>
            </a:pPr>
            <a:r>
              <a:t>Scientific Computing: NumPy, SciPy, Matplotlib, Pandas</a:t>
            </a:r>
          </a:p>
          <a:p>
            <a:pPr marL="365760" indent="-182880" algn="l">
              <a:buChar char="•"/>
            </a:pPr>
            <a:r>
              <a:t>Communication: Inter-process communication via sockets or multithreading</a:t>
            </a:r>
          </a:p>
          <a:p>
            <a:pPr marL="365760" indent="-182880" algn="l">
              <a:buChar char="•"/>
            </a:pPr>
            <a:r>
              <a:t>Component Library: SVG, PDF, and PNG schematics following Circuitikz standards</a:t>
            </a:r>
          </a:p>
        </p:txBody>
      </p:sp>
    </p:spTree>
    <p:extLst>
      <p:ext uri="{BB962C8B-B14F-4D97-AF65-F5344CB8AC3E}">
        <p14:creationId xmlns:p14="http://schemas.microsoft.com/office/powerpoint/2010/main" val="2356260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CC2B3-C732-F463-A876-E104D319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Progress Update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B627B-9EA5-F998-B539-52DBEB9C9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182880" algn="l">
              <a:spcBef>
                <a:spcPts val="0"/>
              </a:spcBef>
              <a:buSzPts val="1800"/>
              <a:buChar char="•"/>
            </a:pPr>
            <a:r>
              <a:t>Completed comprehensive requirements specification</a:t>
            </a:r>
          </a:p>
          <a:p>
            <a:pPr marL="365760" indent="-182880" algn="l">
              <a:buChar char="•"/>
            </a:pPr>
            <a:r>
              <a:t>Defined system architecture with four modular components</a:t>
            </a:r>
          </a:p>
          <a:p>
            <a:pPr marL="365760" indent="-182880" algn="l">
              <a:buChar char="•"/>
            </a:pPr>
            <a:r>
              <a:t>Specified component library requirements (passives, sources, semiconductors, ICs)</a:t>
            </a:r>
          </a:p>
          <a:p>
            <a:pPr marL="365760" indent="-182880" algn="l">
              <a:buChar char="•"/>
            </a:pPr>
            <a:r>
              <a:t>Established user interface layout based on modern circuit simulation tools</a:t>
            </a:r>
          </a:p>
        </p:txBody>
      </p:sp>
    </p:spTree>
    <p:extLst>
      <p:ext uri="{BB962C8B-B14F-4D97-AF65-F5344CB8AC3E}">
        <p14:creationId xmlns:p14="http://schemas.microsoft.com/office/powerpoint/2010/main" val="2495967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B3A4A-E52B-55FE-095A-A719E806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Engineering Fundamentals and Standards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72262-99A3-FE7E-253A-AF1ED41F3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182880" algn="l">
              <a:spcBef>
                <a:spcPts val="0"/>
              </a:spcBef>
              <a:buSzPts val="1800"/>
              <a:buChar char="•"/>
            </a:pPr>
            <a:r>
              <a:t>Circuit theory: Implementation of Kirchhoff's laws through netlist generation</a:t>
            </a:r>
          </a:p>
          <a:p>
            <a:pPr marL="365760" indent="-182880" algn="l">
              <a:buChar char="•"/>
            </a:pPr>
            <a:r>
              <a:t>Signal processing: Waveform analysis using FFT and time-domain techniques</a:t>
            </a:r>
          </a:p>
          <a:p>
            <a:pPr marL="365760" indent="-182880" algn="l">
              <a:buChar char="•"/>
            </a:pPr>
            <a:r>
              <a:t>Software engineering: Modular design with well-defined APIs and IPC</a:t>
            </a:r>
          </a:p>
          <a:p>
            <a:pPr marL="365760" indent="-182880" algn="l">
              <a:buChar char="•"/>
            </a:pPr>
            <a:r>
              <a:t>Standards: Circuitikz for schematic representation, SPICE netlist format</a:t>
            </a:r>
          </a:p>
        </p:txBody>
      </p:sp>
    </p:spTree>
    <p:extLst>
      <p:ext uri="{BB962C8B-B14F-4D97-AF65-F5344CB8AC3E}">
        <p14:creationId xmlns:p14="http://schemas.microsoft.com/office/powerpoint/2010/main" val="135043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AD295-C6A4-4BFF-199F-C486C03BF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Creativity and Innovation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1F13A-9BBA-74B2-64F9-AEC983F8C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182880" algn="l">
              <a:buChar char="•"/>
            </a:pPr>
            <a:r>
              <a:t>Modular IPC-based architecture allows independent development and testing of components</a:t>
            </a:r>
          </a:p>
          <a:p>
            <a:pPr marL="365760" indent="-182880" algn="l">
              <a:buChar char="•"/>
            </a:pPr>
            <a:r>
              <a:t>Integration with Python scientific ecosystem provides extensibility beyond traditional tools</a:t>
            </a:r>
          </a:p>
          <a:p>
            <a:pPr marL="365760" indent="-182880" algn="l">
              <a:buChar char="•"/>
            </a:pPr>
            <a:r>
              <a:t>Direct Circuitikz export enables seamless documentation workflow</a:t>
            </a:r>
          </a:p>
          <a:p>
            <a:pPr marL="365760" indent="-182880" algn="l">
              <a:buChar char="•"/>
            </a:pPr>
            <a:r>
              <a:t>Grid-based node mapping simplifies netlist generation and debugging</a:t>
            </a:r>
          </a:p>
        </p:txBody>
      </p:sp>
    </p:spTree>
    <p:extLst>
      <p:ext uri="{BB962C8B-B14F-4D97-AF65-F5344CB8AC3E}">
        <p14:creationId xmlns:p14="http://schemas.microsoft.com/office/powerpoint/2010/main" val="515199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178E-D23A-08A1-5AF5-0212FB78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Risk Assessment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D6E29-DC98-F6EF-2808-DC7DB3236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182880" algn="l">
              <a:spcBef>
                <a:spcPts val="0"/>
              </a:spcBef>
              <a:buSzPts val="1800"/>
              <a:buChar char="•"/>
            </a:pPr>
            <a:r>
              <a:rPr lang="en-US" dirty="0"/>
              <a:t>Focus on new users may drive away experienced schematic software users</a:t>
            </a:r>
          </a:p>
          <a:p>
            <a:pPr marL="822960" lvl="1" indent="-182880">
              <a:spcBef>
                <a:spcPts val="0"/>
              </a:spcBef>
              <a:buSzPts val="1800"/>
            </a:pPr>
            <a:r>
              <a:rPr lang="en-US" dirty="0"/>
              <a:t>Incorporate multiple “levels” of UI that appeal to different users</a:t>
            </a:r>
          </a:p>
          <a:p>
            <a:pPr marL="822960" lvl="1" indent="-182880">
              <a:spcBef>
                <a:spcPts val="0"/>
              </a:spcBef>
              <a:buSzPts val="1800"/>
            </a:pPr>
            <a:r>
              <a:rPr lang="en-US" dirty="0"/>
              <a:t>Other Spice tools already fulfill experienced user needs </a:t>
            </a:r>
          </a:p>
          <a:p>
            <a:pPr marL="182880" indent="0" algn="l">
              <a:spcBef>
                <a:spcPts val="0"/>
              </a:spcBef>
              <a:buSzPts val="1800"/>
              <a:buNone/>
            </a:pPr>
            <a:endParaRPr lang="en-US" dirty="0"/>
          </a:p>
          <a:p>
            <a:pPr marL="365760" indent="-182880" algn="l">
              <a:spcBef>
                <a:spcPts val="0"/>
              </a:spcBef>
              <a:buSzPts val="1800"/>
              <a:buChar char="•"/>
            </a:pPr>
            <a:r>
              <a:rPr lang="en-US" dirty="0"/>
              <a:t>BUT, “a program designed for all is a program designed for none”</a:t>
            </a:r>
          </a:p>
          <a:p>
            <a:pPr marL="822960" lvl="1" indent="-182880">
              <a:spcBef>
                <a:spcPts val="0"/>
              </a:spcBef>
              <a:buSzPts val="1800"/>
            </a:pPr>
            <a:r>
              <a:rPr lang="en-US" dirty="0"/>
              <a:t>An overfocus on widespread audience could lose sight of the core user</a:t>
            </a:r>
          </a:p>
          <a:p>
            <a:pPr marL="182880" indent="0" algn="l">
              <a:spcBef>
                <a:spcPts val="0"/>
              </a:spcBef>
              <a:buSzPts val="1800"/>
              <a:buNone/>
            </a:pPr>
            <a:endParaRPr lang="en-US" dirty="0"/>
          </a:p>
          <a:p>
            <a:pPr marL="365760" indent="-182880" algn="l">
              <a:spcBef>
                <a:spcPts val="0"/>
              </a:spcBef>
              <a:buSzPts val="1800"/>
              <a:buChar char="•"/>
            </a:pPr>
            <a:r>
              <a:rPr lang="en-US" dirty="0"/>
              <a:t>Plan: Design for new user, but leave room for audience expansion</a:t>
            </a:r>
          </a:p>
        </p:txBody>
      </p:sp>
    </p:spTree>
    <p:extLst>
      <p:ext uri="{BB962C8B-B14F-4D97-AF65-F5344CB8AC3E}">
        <p14:creationId xmlns:p14="http://schemas.microsoft.com/office/powerpoint/2010/main" val="4003106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2961-B379-69D5-A13C-58EE3E5C2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Test and Verification Plans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DFDF5-884A-0AB3-AAD4-F0F86CA0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182880" algn="l">
              <a:spcBef>
                <a:spcPts val="0"/>
              </a:spcBef>
              <a:buSzPts val="1800"/>
              <a:buChar char="•"/>
            </a:pPr>
            <a:r>
              <a:t>Unit testing: Individual component functionality (schematic elements, waveform generation)</a:t>
            </a:r>
          </a:p>
          <a:p>
            <a:pPr marL="365760" indent="-182880" algn="l">
              <a:buChar char="•"/>
            </a:pPr>
            <a:r>
              <a:t>Integration testing: IPC communication between modules, netlist generation accuracy</a:t>
            </a:r>
          </a:p>
          <a:p>
            <a:pPr marL="365760" indent="-182880" algn="l">
              <a:buChar char="•"/>
            </a:pPr>
            <a:r>
              <a:t>Simulation validation: Compare NGSpice results with known circuit behaviors</a:t>
            </a:r>
          </a:p>
          <a:p>
            <a:pPr marL="365760" indent="-182880" algn="l">
              <a:buChar char="•"/>
            </a:pPr>
            <a:r>
              <a:t>Tools: pytest for Python testing, Qt Test framework for GUI testing</a:t>
            </a:r>
          </a:p>
        </p:txBody>
      </p:sp>
    </p:spTree>
    <p:extLst>
      <p:ext uri="{BB962C8B-B14F-4D97-AF65-F5344CB8AC3E}">
        <p14:creationId xmlns:p14="http://schemas.microsoft.com/office/powerpoint/2010/main" val="452648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66DB-9AED-1B93-AC02-68C5C548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Project Timeline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8AEE0-A84C-6117-289D-1AE1F0426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spcBef>
                <a:spcPts val="0"/>
              </a:spcBef>
              <a:buSzPts val="1800"/>
              <a:buChar char="•"/>
            </a:pPr>
            <a:r>
              <a:t>Phase 1: Schematic Design Tool (8 weeks) - Grid canvas, basic components, netlist generation</a:t>
            </a:r>
          </a:p>
          <a:p>
            <a:pPr marL="365760" indent="-182880" algn="l">
              <a:buChar char="•"/>
            </a:pPr>
            <a:r>
              <a:t>Phase 2: Circuit Simulator Integration (4 weeks) - PySpice wrapper, simulation modes</a:t>
            </a:r>
          </a:p>
          <a:p>
            <a:pPr marL="365760" indent="-182880" algn="l">
              <a:buChar char="•"/>
            </a:pPr>
            <a:r>
              <a:t>Phase 3: Waveform Generator (3 weeks) - Signal types, parameter controls</a:t>
            </a:r>
          </a:p>
          <a:p>
            <a:pPr marL="365760" indent="-182880" algn="l">
              <a:buChar char="•"/>
            </a:pPr>
            <a:r>
              <a:t>Phase 4: Oscilloscope Tool (3 weeks) - Time/frequency plots, data export</a:t>
            </a:r>
          </a:p>
          <a:p>
            <a:pPr marL="365760" indent="-182880" algn="l">
              <a:buChar char="•"/>
            </a:pPr>
            <a:r>
              <a:t>Phase 5: Integration &amp; Testing (4 weeks) - IPC setup, end-to-end testing</a:t>
            </a:r>
          </a:p>
        </p:txBody>
      </p:sp>
    </p:spTree>
    <p:extLst>
      <p:ext uri="{BB962C8B-B14F-4D97-AF65-F5344CB8AC3E}">
        <p14:creationId xmlns:p14="http://schemas.microsoft.com/office/powerpoint/2010/main" val="1014507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F627-3536-19F6-250A-5FB4CD36B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Budget Estimate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A0B12-0766-B9A7-9B05-C6881E895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5760" indent="-182880" algn="l">
              <a:buChar char="•"/>
            </a:pPr>
            <a:r>
              <a:rPr lang="en-US" dirty="0"/>
              <a:t>No money spent yet</a:t>
            </a:r>
          </a:p>
          <a:p>
            <a:pPr marL="365760" indent="-182880" algn="l">
              <a:buChar char="•"/>
            </a:pPr>
            <a:endParaRPr lang="en-US" dirty="0"/>
          </a:p>
          <a:p>
            <a:pPr marL="365760" indent="-182880" algn="l">
              <a:buChar char="•"/>
            </a:pPr>
            <a:r>
              <a:rPr lang="en-US" dirty="0"/>
              <a:t>Potential AI usage Plan</a:t>
            </a:r>
          </a:p>
          <a:p>
            <a:pPr marL="822960" lvl="1" indent="-182880"/>
            <a:r>
              <a:rPr lang="en-US" dirty="0"/>
              <a:t>~$20/</a:t>
            </a:r>
            <a:r>
              <a:rPr lang="en-US" dirty="0" err="1"/>
              <a:t>mo</a:t>
            </a:r>
            <a:r>
              <a:rPr lang="en-US" dirty="0"/>
              <a:t> -&gt; $120 upper limit</a:t>
            </a:r>
          </a:p>
          <a:p>
            <a:pPr marL="365760" indent="-182880" algn="l">
              <a:buChar char="•"/>
            </a:pPr>
            <a:endParaRPr lang="en-US" dirty="0"/>
          </a:p>
          <a:p>
            <a:pPr marL="365760" indent="-182880" algn="l">
              <a:buChar char="•"/>
            </a:pPr>
            <a:r>
              <a:rPr lang="en-US" dirty="0"/>
              <a:t>Circuit components for testing</a:t>
            </a:r>
          </a:p>
          <a:p>
            <a:pPr marL="822960" lvl="1" indent="-182880"/>
            <a:r>
              <a:rPr lang="en-US" dirty="0"/>
              <a:t>~$100 expected upper limit</a:t>
            </a:r>
          </a:p>
          <a:p>
            <a:pPr marL="822960" lvl="1" indent="-182880"/>
            <a:r>
              <a:rPr lang="en-US" dirty="0"/>
              <a:t>May be able to source from department</a:t>
            </a:r>
          </a:p>
          <a:p>
            <a:pPr marL="365760" indent="-182880" algn="l">
              <a:buChar char="•"/>
            </a:pPr>
            <a:endParaRPr lang="en-US" dirty="0"/>
          </a:p>
          <a:p>
            <a:pPr marL="365760" indent="-182880" algn="l">
              <a:buChar char="•"/>
            </a:pPr>
            <a:r>
              <a:rPr lang="en-US" dirty="0"/>
              <a:t>Expected maximum of ~$220</a:t>
            </a:r>
          </a:p>
        </p:txBody>
      </p:sp>
      <p:pic>
        <p:nvPicPr>
          <p:cNvPr id="1026" name="Picture 2" descr="7 Best Perplexity AI Alternatives for Researchers in 2025?">
            <a:extLst>
              <a:ext uri="{FF2B5EF4-FFF2-40B4-BE49-F238E27FC236}">
                <a16:creationId xmlns:a16="http://schemas.microsoft.com/office/drawing/2014/main" id="{F8DA980C-92AB-3A9F-98B9-9986321EB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-61912"/>
            <a:ext cx="35052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lectrical Resistors | Materials used in precision Resistors">
            <a:extLst>
              <a:ext uri="{FF2B5EF4-FFF2-40B4-BE49-F238E27FC236}">
                <a16:creationId xmlns:a16="http://schemas.microsoft.com/office/drawing/2014/main" id="{8B479D6A-FB60-7071-13D9-4EAE32536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3352800"/>
            <a:ext cx="35052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301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DCEF5-811E-AA54-5648-DB6A2E2A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Demo or Prototype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B4C77-E817-C08E-2955-FE4FBB7DB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182880" algn="l">
              <a:buChar char="•"/>
            </a:pPr>
            <a:r>
              <a:t>Current status: Design phase complete, ready for implementation</a:t>
            </a:r>
          </a:p>
          <a:p>
            <a:pPr marL="365760" indent="-182880" algn="l">
              <a:buChar char="•"/>
            </a:pPr>
            <a:r>
              <a:t>Planned prototype: Basic schematic editor with simple RC circuit simulation</a:t>
            </a:r>
          </a:p>
          <a:p>
            <a:pPr marL="365760" indent="-182880" algn="l">
              <a:buChar char="•"/>
            </a:pPr>
            <a:r>
              <a:t>Demo deliverables: Grid-based canvas, component placement, netlist output, basic NGSpice integration</a:t>
            </a:r>
          </a:p>
        </p:txBody>
      </p:sp>
    </p:spTree>
    <p:extLst>
      <p:ext uri="{BB962C8B-B14F-4D97-AF65-F5344CB8AC3E}">
        <p14:creationId xmlns:p14="http://schemas.microsoft.com/office/powerpoint/2010/main" val="1119290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4B0C-5A1C-EA46-E9F3-1C171C6D2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marL="0" indent="0" algn="ctr">
              <a:buNone/>
            </a:pPr>
            <a: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173297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669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SDM Spice (Jupyter Spice)- Preliminary Design Review</vt:lpstr>
      <vt:lpstr>Project Overview</vt:lpstr>
      <vt:lpstr>Customer Discovery</vt:lpstr>
      <vt:lpstr>Needs Assessment</vt:lpstr>
      <vt:lpstr>Preliminary Design Description</vt:lpstr>
      <vt:lpstr>Technical Details</vt:lpstr>
      <vt:lpstr>Progress Update</vt:lpstr>
      <vt:lpstr>Engineering Fundamentals and Standards</vt:lpstr>
      <vt:lpstr>Creativity and Innovation</vt:lpstr>
      <vt:lpstr>Risk Assessment</vt:lpstr>
      <vt:lpstr>Test and Verification Plans</vt:lpstr>
      <vt:lpstr>Project Timeline</vt:lpstr>
      <vt:lpstr>Budget Estimate</vt:lpstr>
      <vt:lpstr>Demo or Prototype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Meidinger, Benjamin - SDSMT Student</dc:creator>
  <cp:lastModifiedBy>Greenfield, Micah J. - SDSMT Student</cp:lastModifiedBy>
  <cp:revision>2</cp:revision>
  <dcterms:created xsi:type="dcterms:W3CDTF">2025-10-28T14:19:46Z</dcterms:created>
  <dcterms:modified xsi:type="dcterms:W3CDTF">2025-11-11T02:10:42Z</dcterms:modified>
</cp:coreProperties>
</file>